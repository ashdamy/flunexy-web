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8" r:id="rId10"/>
    <p:sldId id="264" r:id="rId11"/>
    <p:sldId id="265" r:id="rId12"/>
    <p:sldId id="275" r:id="rId13"/>
    <p:sldId id="270" r:id="rId14"/>
    <p:sldId id="271" r:id="rId15"/>
    <p:sldId id="272" r:id="rId16"/>
    <p:sldId id="267" r:id="rId17"/>
  </p:sldIdLst>
  <p:sldSz cx="9144000" cy="5143500" type="screen16x9"/>
  <p:notesSz cx="51435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395976DF-10CC-4021-9675-2844D6CF429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74"/>
            <p14:sldId id="268"/>
            <p14:sldId id="264"/>
            <p14:sldId id="265"/>
            <p14:sldId id="275"/>
            <p14:sldId id="270"/>
            <p14:sldId id="271"/>
            <p14:sldId id="272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C3k2/j7215ANzSiyFOjTzs5x1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d351fde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g3ed351fde15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ed351fde15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ea87aaf6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g3ea87aaf6c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ea87aaf6c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a87aaf6c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g3ea87aaf6ce_0_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ea87aaf6ce_0_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2947df8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ed2947df83_0_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ed2947df83_0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d2bc55fc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ed2bc55fce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ed2bc55fce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969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142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601375" y="-388000"/>
            <a:ext cx="3420000" cy="3497100"/>
          </a:xfrm>
          <a:prstGeom prst="ellipse">
            <a:avLst/>
          </a:prstGeom>
          <a:solidFill>
            <a:srgbClr val="818CF8">
              <a:alpha val="12156"/>
            </a:srgbClr>
          </a:solidFill>
          <a:ln w="12700" cap="flat" cmpd="sng">
            <a:solidFill>
              <a:srgbClr val="818CF8">
                <a:alpha val="1215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241175" y="2353475"/>
            <a:ext cx="2859300" cy="2926200"/>
          </a:xfrm>
          <a:prstGeom prst="ellipse">
            <a:avLst/>
          </a:prstGeom>
          <a:solidFill>
            <a:srgbClr val="A78BFA">
              <a:alpha val="12156"/>
            </a:srgbClr>
          </a:solidFill>
          <a:ln w="12700" cap="flat" cmpd="sng">
            <a:solidFill>
              <a:srgbClr val="A78BFA">
                <a:alpha val="1215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74720" y="50292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818CF8">
              <a:alpha val="20000"/>
            </a:srgbClr>
          </a:solidFill>
          <a:ln w="12700" cap="flat" cmpd="sng">
            <a:solidFill>
              <a:srgbClr val="818CF8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474745" y="502957"/>
            <a:ext cx="219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DESIGN SYSTEM v1.0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1005840"/>
            <a:ext cx="73152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Sora"/>
              <a:buNone/>
            </a:pPr>
            <a:r>
              <a:rPr lang="en-US" sz="64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FluneXy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Inter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Manual de Usuario &amp; Guía de Diseño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600"/>
              <a:buFont typeface="Inter"/>
              <a:buNone/>
            </a:pPr>
            <a:r>
              <a:rPr lang="en-US" sz="1600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Fluye con tus finanzas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749040" y="3200400"/>
            <a:ext cx="1645920" cy="22860"/>
          </a:xfrm>
          <a:prstGeom prst="rect">
            <a:avLst/>
          </a:prstGeom>
          <a:solidFill>
            <a:srgbClr val="818CF8">
              <a:alpha val="50196"/>
            </a:srgbClr>
          </a:solidFill>
          <a:ln w="12700" cap="flat" cmpd="sng">
            <a:solidFill>
              <a:srgbClr val="818CF8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SENA ADSO · Ficha 3267541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8974" y="277626"/>
            <a:ext cx="1013875" cy="5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666105" y="3397075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Inter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ed351fde15_0_0"/>
          <p:cNvSpPr/>
          <p:nvPr/>
        </p:nvSpPr>
        <p:spPr>
          <a:xfrm>
            <a:off x="956335" y="37418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Introdución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g3ed351fde15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75954" y="272389"/>
            <a:ext cx="11144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g3ed351fde15_0_0"/>
          <p:cNvSpPr txBox="1"/>
          <p:nvPr/>
        </p:nvSpPr>
        <p:spPr>
          <a:xfrm>
            <a:off x="858450" y="1055100"/>
            <a:ext cx="7427100" cy="3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presente manual constituye el marco normativo para la gestión de la identidad visual y las interfaces de FluneXy. Su objetivo primordial es estandarizar y regular cada componente gráfico e interactivo de la aplicación fintech, asegurando una experiencia de usuario (UX) coherente, profesional y reconocible en todas las plataformas y medios digitales. </a:t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Estas directrices establecen las reglas estrictas para el uso del logotipo, la paleta cromática en modo oscuro, la jerarquía tipográfica y el dimensionamiento. Su implementación es obligatoria para el equipo de desarrollo de software y diseño frontend, garantizando la consistencia de la interfaz.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a87aaf6ce_0_0"/>
          <p:cNvSpPr/>
          <p:nvPr/>
        </p:nvSpPr>
        <p:spPr>
          <a:xfrm>
            <a:off x="833835" y="50468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¿Por qué FluneXy?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g3ea87aaf6c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654" y="402901"/>
            <a:ext cx="11144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ea87aaf6ce_0_0"/>
          <p:cNvSpPr txBox="1"/>
          <p:nvPr/>
        </p:nvSpPr>
        <p:spPr>
          <a:xfrm>
            <a:off x="901950" y="1287500"/>
            <a:ext cx="7340100" cy="3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nombre FluneXy nace de la fusión de tres conceptos clave del ecosistema financiero y tecnológico moderno: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Flu- (Fluidez): Inspirado en nuestro eslogan "Fluye con tus finanzas". Representa la liquidez del dinero, el movimiento ágil del capital y la eliminación de fricciones o trabas tradicionales en la gestión diaria.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-neX- (Nexo): Derivado de Nexus (conexión o lazo). Define a la plataforma como el puente tecnológico definitivo entre el usuario, la analítica inteligente y el control de su economía.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-Xy (Crecimiento): La "X" representa la variable matemática de la multiplicación de ahorros, las gráficas del mercado financiero y actúa como el núcleo visual del isotipo.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-Color verde en la X: En el ecosistema financiero y fintech, el color verde simboliza universalmente los saldos positivos, los ingresos, las ganancias y las velas alcistas del mercado. Transmite de forma inmediata prosperidad, rentabilidad y crecimiento patrimonial. </a:t>
            </a: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a87aaf6ce_0_8"/>
          <p:cNvSpPr/>
          <p:nvPr/>
        </p:nvSpPr>
        <p:spPr>
          <a:xfrm>
            <a:off x="1040485" y="43593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Palabras claves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g3ea87aaf6ce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5925" y="294176"/>
            <a:ext cx="1206150" cy="5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ea87aaf6ce_0_8"/>
          <p:cNvSpPr txBox="1"/>
          <p:nvPr/>
        </p:nvSpPr>
        <p:spPr>
          <a:xfrm>
            <a:off x="969975" y="1254850"/>
            <a:ext cx="6546300" cy="29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F1F1F"/>
              </a:solidFill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Identidad de Marca: Seguridad integral, control de flujos, automatización, salud financiera y crecimiento patrimonial.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 Visual: Contraste optimizado, estructura geométrica, arquitectura limpia, interactividad neón y fluidez.</a:t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Comunicación: Profesionalismo, transparencia técnica, claridad en métricas, mensajería asertiva y cercanía.</a:t>
            </a:r>
            <a:endParaRPr sz="11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d2947df83_0_3"/>
          <p:cNvSpPr txBox="1"/>
          <p:nvPr/>
        </p:nvSpPr>
        <p:spPr>
          <a:xfrm>
            <a:off x="1131800" y="380563"/>
            <a:ext cx="164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Logotipo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ed2947df83_0_3"/>
          <p:cNvSpPr/>
          <p:nvPr/>
        </p:nvSpPr>
        <p:spPr>
          <a:xfrm>
            <a:off x="1025275" y="1018350"/>
            <a:ext cx="3599400" cy="3687000"/>
          </a:xfrm>
          <a:prstGeom prst="roundRect">
            <a:avLst>
              <a:gd name="adj" fmla="val 3636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g3ed2947df83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51057" y="327740"/>
            <a:ext cx="11144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3ed2947df83_0_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5100" y="1437075"/>
            <a:ext cx="733149" cy="733101"/>
          </a:xfrm>
          <a:prstGeom prst="rect">
            <a:avLst/>
          </a:prstGeom>
          <a:solidFill>
            <a:srgbClr val="334155">
              <a:alpha val="48627"/>
            </a:srgbClr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5" name="Google Shape;65;g3ed2947df83_0_3"/>
          <p:cNvSpPr txBox="1"/>
          <p:nvPr/>
        </p:nvSpPr>
        <p:spPr>
          <a:xfrm>
            <a:off x="2299550" y="1437075"/>
            <a:ext cx="1895100" cy="9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 Icon: Exportar obligatoriamente a 512 × 512 px para tiendas digitales. 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g3ed2947df83_0_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9350" y="2467677"/>
            <a:ext cx="724675" cy="817200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7" name="Google Shape;67;g3ed2947df83_0_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19350" y="3498275"/>
            <a:ext cx="724675" cy="995400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8" name="Google Shape;68;g3ed2947df83_0_3"/>
          <p:cNvSpPr txBox="1"/>
          <p:nvPr/>
        </p:nvSpPr>
        <p:spPr>
          <a:xfrm>
            <a:off x="2371450" y="2497000"/>
            <a:ext cx="1795500" cy="9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Landing Page Header: Altura fija de 32 px o 40 px para alineación simétrica.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ed2947df83_0_3"/>
          <p:cNvSpPr txBox="1"/>
          <p:nvPr/>
        </p:nvSpPr>
        <p:spPr>
          <a:xfrm>
            <a:off x="2403700" y="3671988"/>
            <a:ext cx="17310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Splash Screen: Ancho máximo de 120 px centrado en pantalla.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ed2947df83_0_3"/>
          <p:cNvSpPr/>
          <p:nvPr/>
        </p:nvSpPr>
        <p:spPr>
          <a:xfrm>
            <a:off x="4987675" y="1050025"/>
            <a:ext cx="3599400" cy="3652500"/>
          </a:xfrm>
          <a:prstGeom prst="roundRect">
            <a:avLst>
              <a:gd name="adj" fmla="val 3636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" name="Google Shape;71;g3ed2947df83_0_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44100" y="1200500"/>
            <a:ext cx="3086550" cy="3351575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d2bc55fce_1_0"/>
          <p:cNvSpPr txBox="1"/>
          <p:nvPr/>
        </p:nvSpPr>
        <p:spPr>
          <a:xfrm>
            <a:off x="864725" y="338600"/>
            <a:ext cx="533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Usos Incorrectos del Logotipo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ed2bc55fce_1_0"/>
          <p:cNvSpPr/>
          <p:nvPr/>
        </p:nvSpPr>
        <p:spPr>
          <a:xfrm>
            <a:off x="864725" y="1138350"/>
            <a:ext cx="7116600" cy="3567000"/>
          </a:xfrm>
          <a:prstGeom prst="roundRect">
            <a:avLst>
              <a:gd name="adj" fmla="val 3636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50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endParaRPr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9" name="Google Shape;79;g3ed2bc55fce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957" y="285752"/>
            <a:ext cx="11144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ed2bc55fce_1_0"/>
          <p:cNvSpPr txBox="1"/>
          <p:nvPr/>
        </p:nvSpPr>
        <p:spPr>
          <a:xfrm>
            <a:off x="2465650" y="1449450"/>
            <a:ext cx="17310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deformar: Mantén siempre las proporciones originales. </a:t>
            </a: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3ed2bc55fce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1175" y="1507495"/>
            <a:ext cx="1106100" cy="554100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2" name="Google Shape;82;g3ed2bc55fce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025" y="2488673"/>
            <a:ext cx="1131325" cy="62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ed2bc55fce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7013" y="3689300"/>
            <a:ext cx="1131350" cy="587266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4" name="Google Shape;84;g3ed2bc55fce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7500" y="1507500"/>
            <a:ext cx="1131350" cy="554100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5" name="Google Shape;85;g3ed2bc55fce_1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7500" y="2488675"/>
            <a:ext cx="1131350" cy="629542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6" name="Google Shape;86;g3ed2bc55fce_1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7500" y="3409250"/>
            <a:ext cx="1292675" cy="866775"/>
          </a:xfrm>
          <a:prstGeom prst="rect">
            <a:avLst/>
          </a:prstGeom>
          <a:solidFill>
            <a:srgbClr val="0C0F40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" name="Google Shape;87;g3ed2bc55fce_1_0"/>
          <p:cNvSpPr txBox="1"/>
          <p:nvPr/>
        </p:nvSpPr>
        <p:spPr>
          <a:xfrm>
            <a:off x="2506450" y="2468350"/>
            <a:ext cx="16494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cambiar colores: Usa únicamente los colores corporativos. </a:t>
            </a:r>
            <a:endParaRPr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g3ed2bc55fce_1_0"/>
          <p:cNvSpPr txBox="1"/>
          <p:nvPr/>
        </p:nvSpPr>
        <p:spPr>
          <a:xfrm>
            <a:off x="2585950" y="3582963"/>
            <a:ext cx="1610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rotar: Conserva la orientación original del logotipo. </a:t>
            </a:r>
            <a:endParaRPr/>
          </a:p>
        </p:txBody>
      </p:sp>
      <p:sp>
        <p:nvSpPr>
          <p:cNvPr id="89" name="Google Shape;89;g3ed2bc55fce_1_0"/>
          <p:cNvSpPr txBox="1"/>
          <p:nvPr/>
        </p:nvSpPr>
        <p:spPr>
          <a:xfrm>
            <a:off x="5789700" y="1507500"/>
            <a:ext cx="1731000" cy="6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agregar efectos: Mantén el diseño limpio y sin alteraciones.</a:t>
            </a:r>
            <a:r>
              <a:rPr lang="en-US" sz="1100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90" name="Google Shape;90;g3ed2bc55fce_1_0"/>
          <p:cNvSpPr txBox="1"/>
          <p:nvPr/>
        </p:nvSpPr>
        <p:spPr>
          <a:xfrm>
            <a:off x="5830500" y="2505600"/>
            <a:ext cx="19128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alterar proporciones: Respeta la relación entre todos los elementos. </a:t>
            </a:r>
            <a:endParaRPr/>
          </a:p>
        </p:txBody>
      </p:sp>
      <p:sp>
        <p:nvSpPr>
          <p:cNvPr id="91" name="Google Shape;91;g3ed2bc55fce_1_0"/>
          <p:cNvSpPr txBox="1"/>
          <p:nvPr/>
        </p:nvSpPr>
        <p:spPr>
          <a:xfrm>
            <a:off x="5882100" y="3476763"/>
            <a:ext cx="18096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usar sobre fondos inadecuados: Garantiza siempre un contraste adecuado.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BG Deep Block"/>
          <p:cNvSpPr/>
          <p:nvPr/>
        </p:nvSpPr>
        <p:spPr>
          <a:xfrm>
            <a:off x="457992" y="748604"/>
            <a:ext cx="4024800" cy="480000"/>
          </a:xfrm>
          <a:prstGeom prst="roundRect">
            <a:avLst>
              <a:gd name="adj" fmla="val 6000"/>
            </a:avLst>
          </a:prstGeom>
          <a:solidFill>
            <a:srgbClr val="070920"/>
          </a:solidFill>
          <a:ln w="25400">
            <a:solidFill>
              <a:srgbClr val="818CF8">
                <a:alpha val="60000"/>
              </a:srgbClr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211" name="BG Deep Label"/>
          <p:cNvSpPr/>
          <p:nvPr/>
        </p:nvSpPr>
        <p:spPr>
          <a:xfrm>
            <a:off x="492336" y="1261636"/>
            <a:ext cx="4024800" cy="15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 cap="none" dirty="0" err="1">
                <a:solidFill>
                  <a:srgbClr val="FFFFFF"/>
                </a:solidFill>
                <a:latin typeface="Inter"/>
              </a:rPr>
              <a:t>Fondo</a:t>
            </a:r>
            <a:r>
              <a:rPr lang="en-US" sz="1200" b="1" u="none" strike="noStrike" cap="none" dirty="0">
                <a:solidFill>
                  <a:srgbClr val="FFFFFF"/>
                </a:solidFill>
                <a:latin typeface="Inter"/>
              </a:rPr>
              <a:t> </a:t>
            </a:r>
            <a:r>
              <a:rPr lang="en-US" sz="1200" b="1" u="none" strike="noStrike" cap="none" dirty="0" err="1">
                <a:solidFill>
                  <a:srgbClr val="FFFFFF"/>
                </a:solidFill>
                <a:latin typeface="Inter"/>
              </a:rPr>
              <a:t>Oscuro</a:t>
            </a:r>
            <a:endParaRPr lang="en-US" sz="1200" b="1" u="none" strike="noStrike" cap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2" name="BG Deep Hex"/>
          <p:cNvSpPr/>
          <p:nvPr/>
        </p:nvSpPr>
        <p:spPr>
          <a:xfrm>
            <a:off x="437472" y="1476892"/>
            <a:ext cx="4024800" cy="13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 cap="none" dirty="0">
                <a:solidFill>
                  <a:srgbClr val="94A3B8"/>
                </a:solidFill>
                <a:latin typeface="Inter"/>
              </a:rPr>
              <a:t>#070920</a:t>
            </a:r>
          </a:p>
        </p:txBody>
      </p:sp>
      <p:sp>
        <p:nvSpPr>
          <p:cNvPr id="213" name="BG Light Block"/>
          <p:cNvSpPr/>
          <p:nvPr/>
        </p:nvSpPr>
        <p:spPr>
          <a:xfrm>
            <a:off x="4740911" y="743549"/>
            <a:ext cx="4024800" cy="480000"/>
          </a:xfrm>
          <a:prstGeom prst="roundRect">
            <a:avLst>
              <a:gd name="adj" fmla="val 6000"/>
            </a:avLst>
          </a:prstGeom>
          <a:solidFill>
            <a:srgbClr val="F8F9FF"/>
          </a:solidFill>
          <a:ln w="25400">
            <a:solidFill>
              <a:srgbClr val="4F56D6">
                <a:alpha val="60000"/>
              </a:srgbClr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endParaRPr/>
          </a:p>
        </p:txBody>
      </p:sp>
      <p:sp>
        <p:nvSpPr>
          <p:cNvPr id="214" name="BG Light Label"/>
          <p:cNvSpPr/>
          <p:nvPr/>
        </p:nvSpPr>
        <p:spPr>
          <a:xfrm>
            <a:off x="4661900" y="1261636"/>
            <a:ext cx="4024800" cy="155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 cap="none" dirty="0" err="1">
                <a:solidFill>
                  <a:srgbClr val="FFFFFF"/>
                </a:solidFill>
                <a:latin typeface="Inter"/>
              </a:rPr>
              <a:t>Fondo</a:t>
            </a:r>
            <a:r>
              <a:rPr lang="en-US" sz="1200" b="1" u="none" strike="noStrike" cap="none" dirty="0">
                <a:solidFill>
                  <a:srgbClr val="FFFFFF"/>
                </a:solidFill>
                <a:latin typeface="Inter"/>
              </a:rPr>
              <a:t> Claro</a:t>
            </a:r>
          </a:p>
        </p:txBody>
      </p:sp>
      <p:sp>
        <p:nvSpPr>
          <p:cNvPr id="215" name="BG Light Hex"/>
          <p:cNvSpPr/>
          <p:nvPr/>
        </p:nvSpPr>
        <p:spPr>
          <a:xfrm>
            <a:off x="4661900" y="1476892"/>
            <a:ext cx="4024800" cy="13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 cap="none" dirty="0">
                <a:solidFill>
                  <a:srgbClr val="94A3B8"/>
                </a:solidFill>
                <a:latin typeface="Inter"/>
              </a:rPr>
              <a:t>#F8F9FF</a:t>
            </a:r>
          </a:p>
        </p:txBody>
      </p:sp>
      <p:sp>
        <p:nvSpPr>
          <p:cNvPr id="99" name="Google Shape;99;p2"/>
          <p:cNvSpPr/>
          <p:nvPr/>
        </p:nvSpPr>
        <p:spPr>
          <a:xfrm>
            <a:off x="634248" y="166110"/>
            <a:ext cx="5236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Paleta de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Colores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57200" y="17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COLORES DE MARCA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57200" y="1978992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457200" y="28476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Indigo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57200" y="304884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#818CF8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57200" y="323172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Acento principal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810512" y="1978992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810512" y="28476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Violet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810512" y="304884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#A78BFA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810512" y="323172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Acento secundario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3163824" y="1978992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163824" y="28476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Sky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163824" y="304884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#38BDF8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163824" y="323172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Info / Links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517136" y="1978992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4517136" y="28476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517136" y="304884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#34D399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517136" y="323172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Éxito / Positivo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870448" y="1978992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7171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5870448" y="28476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5870448" y="304884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#F87171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870448" y="323172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Error / Alerta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223760" y="1978992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7223760" y="2847672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Amber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7223760" y="304884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#FBBF24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223760" y="3231720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Advertencia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57200" y="38077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COLORES NEUTROS &amp; FONDOS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457200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070920"/>
          </a:solidFill>
          <a:ln w="12700" cap="flat" cmpd="sng">
            <a:solidFill>
              <a:srgbClr val="07092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57200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BG Deep (oscuro)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57200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#070920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435608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0C0F40"/>
          </a:solidFill>
          <a:ln w="12700" cap="flat" cmpd="sng">
            <a:solidFill>
              <a:srgbClr val="0C0F4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1435608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BG Card (oscuro)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435608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#0C0F40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2414016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2414016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Slate 700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2414016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#334155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3392424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64748B"/>
          </a:solidFill>
          <a:ln w="12700" cap="flat" cmpd="sng">
            <a:solidFill>
              <a:srgbClr val="64748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3392424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Slate 500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3392424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#64748B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370832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94A3B8"/>
          </a:solidFill>
          <a:ln w="12700" cap="flat" cmpd="sng">
            <a:solidFill>
              <a:srgbClr val="94A3B8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4370832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Slate 400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4370832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#94A3B8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5349240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CBD5E1"/>
          </a:solidFill>
          <a:ln w="12700" cap="flat" cmpd="sng">
            <a:solidFill>
              <a:srgbClr val="CBD5E1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5349240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Slate 300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5349240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#CBD5E1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6327648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F1F5F9"/>
          </a:solidFill>
          <a:ln w="12700" cap="flat" cmpd="sng">
            <a:solidFill>
              <a:srgbClr val="F1F5F9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6327648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Slate 50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6327648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#F1F5F9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7306056" y="4082112"/>
            <a:ext cx="941832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 cap="flat" cmpd="sng">
            <a:solidFill>
              <a:srgbClr val="CBD5E1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7306056" y="4530168"/>
            <a:ext cx="94183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7306056" y="4713048"/>
            <a:ext cx="94183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Inter"/>
              <a:buNone/>
            </a:pPr>
            <a:r>
              <a:rPr lang="en-US" sz="7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2984" y="43385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2984" y="43385"/>
            <a:ext cx="11144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6A6FE40-09B1-166E-E917-234AA5B4D731}"/>
              </a:ext>
            </a:extLst>
          </p:cNvPr>
          <p:cNvSpPr txBox="1"/>
          <p:nvPr/>
        </p:nvSpPr>
        <p:spPr>
          <a:xfrm>
            <a:off x="999893" y="2091223"/>
            <a:ext cx="7259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📱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Especificaciones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Mobiles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6332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822960" y="2560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57200" y="80467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 dirty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ESCALA TIPOGRÁFICA MOBIL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57200" y="1115568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57200" y="11155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32px · Sora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783080" y="11155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H1 — Títulos principales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457200" y="1389888"/>
            <a:ext cx="48463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FluneXy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57200" y="204216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57200" y="204216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24px · Sora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783080" y="20421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H2 — Subtítulos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457200" y="2316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Sora"/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Sora"/>
                <a:ea typeface="Sora"/>
                <a:cs typeface="Sora"/>
                <a:sym typeface="Sora"/>
              </a:rPr>
              <a:t>Bienvenido de vuelta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57200" y="284683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57200" y="28468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20px · Sora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1783080" y="28468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H3 — Títulos menores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457200" y="3121152"/>
            <a:ext cx="48463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Sora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Sora"/>
                <a:ea typeface="Sora"/>
                <a:cs typeface="Sora"/>
                <a:sym typeface="Sora"/>
              </a:rPr>
              <a:t>Verifica tu correo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457200" y="35905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57200" y="359054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16px · Inter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1783080" y="359054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Body — Texto general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457200" y="3864864"/>
            <a:ext cx="48463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Ingresa tus datos para acceder.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5642475" y="804676"/>
            <a:ext cx="3071100" cy="3717600"/>
          </a:xfrm>
          <a:prstGeom prst="roundRect">
            <a:avLst>
              <a:gd name="adj" fmla="val 3636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897880" y="93268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RESOLUCIÓN DE REFERENCIA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5897880" y="1261872"/>
            <a:ext cx="36576" cy="82296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035040" y="12618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Ancho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035040" y="15361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Sora"/>
              <a:buNone/>
            </a:pPr>
            <a:r>
              <a:rPr lang="en-US" sz="2000" b="1" i="0" u="none" strike="noStrike" cap="none">
                <a:solidFill>
                  <a:srgbClr val="A78BFA"/>
                </a:solidFill>
                <a:latin typeface="Sora"/>
                <a:ea typeface="Sora"/>
                <a:cs typeface="Sora"/>
                <a:sym typeface="Sora"/>
              </a:rPr>
              <a:t>360 px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6035040" y="1828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Base fija para todas las pantallas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5897880" y="2404872"/>
            <a:ext cx="36576" cy="82296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6035040" y="2404872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6035040" y="26791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800 px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035040" y="2971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Referencia; aumenta con scroll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5897880" y="3547872"/>
            <a:ext cx="36576" cy="8229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6035040" y="35478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Resolución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6035040" y="38221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360 × 800 px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6035040" y="4114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Densidad estándar mobile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148683" y="4663440"/>
            <a:ext cx="8538117" cy="420610"/>
          </a:xfrm>
          <a:prstGeom prst="roundRect">
            <a:avLst>
              <a:gd name="adj" fmla="val 15789"/>
            </a:avLst>
          </a:prstGeom>
          <a:solidFill>
            <a:srgbClr val="0C0F40"/>
          </a:solidFill>
          <a:ln w="12700" cap="flat" cmpd="sng">
            <a:solidFill>
              <a:srgbClr val="A78BFA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lang="es-ES" sz="80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>
              <a:buSzPts val="1400"/>
            </a:pPr>
            <a:r>
              <a:rPr lang="es-ES" sz="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medidas presentadas corresponden a una resolución de referencia de 360 × 800 </a:t>
            </a:r>
            <a:r>
              <a:rPr lang="es-ES" sz="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px</a:t>
            </a:r>
            <a:r>
              <a:rPr lang="es-ES" sz="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El ancho de 360 </a:t>
            </a:r>
            <a:r>
              <a:rPr lang="es-ES" sz="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px</a:t>
            </a:r>
            <a:r>
              <a:rPr lang="es-ES" sz="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 mantiene como base para todas las pantallas Mobile. La altura puede aumentar según el contenido de cada módulo, permitiendo desplazamiento vertical (</a:t>
            </a:r>
            <a:r>
              <a:rPr lang="es-ES" sz="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scroll</a:t>
            </a:r>
            <a:r>
              <a:rPr lang="es-ES" sz="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cuando sea necesario.</a:t>
            </a:r>
            <a:endParaRPr lang="es-ES"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598400" y="4663425"/>
            <a:ext cx="8042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Inter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7654" y="177739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10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"/>
          <p:cNvSpPr/>
          <p:nvPr/>
        </p:nvSpPr>
        <p:spPr>
          <a:xfrm>
            <a:off x="822960" y="256032"/>
            <a:ext cx="6781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000" b="1" i="0" u="none" strike="noStrike" cap="none" dirty="0" err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Especificaciones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de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Imágenes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— Mobil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457200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457200" y="777240"/>
            <a:ext cx="1572768" cy="54864"/>
          </a:xfrm>
          <a:prstGeom prst="rect">
            <a:avLst/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94360" y="978408"/>
            <a:ext cx="1298448" cy="1746189"/>
          </a:xfrm>
          <a:prstGeom prst="roundRect">
            <a:avLst>
              <a:gd name="adj" fmla="val 4225"/>
            </a:avLst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94360" y="978408"/>
            <a:ext cx="1298448" cy="174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240 × 320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530352" y="2852613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Hero Image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530352" y="3126933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240 × 320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530352" y="3328101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máx. 360 px full-width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2139696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A78BF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139696" y="777240"/>
            <a:ext cx="1572768" cy="54864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2276856" y="978408"/>
            <a:ext cx="1298448" cy="575391"/>
          </a:xfrm>
          <a:prstGeom prst="roundRect">
            <a:avLst>
              <a:gd name="adj" fmla="val 9535"/>
            </a:avLst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2276856" y="978408"/>
            <a:ext cx="1298448" cy="57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360 × 160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2212848" y="1681815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Banner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2212848" y="1956135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360 × 160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2212848" y="2157303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pantalla completa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3822192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38BDF8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822192" y="777240"/>
            <a:ext cx="1572768" cy="54864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959352" y="978408"/>
            <a:ext cx="1298448" cy="1723395"/>
          </a:xfrm>
          <a:prstGeom prst="roundRect">
            <a:avLst>
              <a:gd name="adj" fmla="val 4225"/>
            </a:avLst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959352" y="978408"/>
            <a:ext cx="1298448" cy="172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72 × 96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895344" y="2829819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Card Image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3895344" y="3104139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72 × 96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3895344" y="3305307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80×80 cuadrada fintech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504688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504688" y="777240"/>
            <a:ext cx="1572768" cy="54864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641848" y="978408"/>
            <a:ext cx="1298448" cy="1298448"/>
          </a:xfrm>
          <a:prstGeom prst="roundRect">
            <a:avLst>
              <a:gd name="adj" fmla="val 4225"/>
            </a:avLst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641848" y="978408"/>
            <a:ext cx="1298448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48 × 48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5577840" y="2404872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Thumbnail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577840" y="267919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48 × 48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577840" y="288036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56×56 lista extendida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187184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FBBF24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7187184" y="777240"/>
            <a:ext cx="1572768" cy="54864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7324344" y="978408"/>
            <a:ext cx="1298448" cy="1298448"/>
          </a:xfrm>
          <a:prstGeom prst="roundRect">
            <a:avLst>
              <a:gd name="adj" fmla="val 4225"/>
            </a:avLst>
          </a:prstGeom>
          <a:solidFill>
            <a:srgbClr val="FBBF24">
              <a:alpha val="14901"/>
            </a:srgbClr>
          </a:solidFill>
          <a:ln w="12700" cap="flat" cmpd="sng">
            <a:solidFill>
              <a:srgbClr val="FBBF2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7324344" y="978408"/>
            <a:ext cx="1298448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32 · 40 · 48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7260336" y="2404872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Avatar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7260336" y="267919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32 · 40 · 48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7260336" y="288036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 tamaños estándar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594360" y="466344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1202" y="159458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10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"/>
          <p:cNvSpPr/>
          <p:nvPr/>
        </p:nvSpPr>
        <p:spPr>
          <a:xfrm>
            <a:off x="822960" y="2560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Iconografía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— Mobil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57200" y="932688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818CF8">
              <a:alpha val="18039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7200" y="9326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16 × 16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1600200" y="914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Pequeños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1600200" y="12070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Inputs · Labels · Badges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5303520" y="877824"/>
            <a:ext cx="475488" cy="475488"/>
          </a:xfrm>
          <a:prstGeom prst="ellipse">
            <a:avLst/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3540" y="103784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"/>
          <p:cNvSpPr/>
          <p:nvPr/>
        </p:nvSpPr>
        <p:spPr>
          <a:xfrm>
            <a:off x="5961888" y="877824"/>
            <a:ext cx="475488" cy="475488"/>
          </a:xfrm>
          <a:prstGeom prst="ellipse">
            <a:avLst/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1908" y="103784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"/>
          <p:cNvSpPr/>
          <p:nvPr/>
        </p:nvSpPr>
        <p:spPr>
          <a:xfrm>
            <a:off x="6620256" y="877824"/>
            <a:ext cx="475488" cy="475488"/>
          </a:xfrm>
          <a:prstGeom prst="ellipse">
            <a:avLst/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80276" y="1037844"/>
            <a:ext cx="155448" cy="155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5"/>
          <p:cNvCxnSpPr/>
          <p:nvPr/>
        </p:nvCxnSpPr>
        <p:spPr>
          <a:xfrm>
            <a:off x="457200" y="15544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5"/>
          <p:cNvSpPr/>
          <p:nvPr/>
        </p:nvSpPr>
        <p:spPr>
          <a:xfrm>
            <a:off x="457200" y="1920240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A78BFA">
              <a:alpha val="18039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57200" y="19202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20 × 20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1600200" y="1901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Estándar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1600200" y="21945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Botones · Navegación · Chips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5303520" y="1865376"/>
            <a:ext cx="475488" cy="475488"/>
          </a:xfrm>
          <a:prstGeom prst="ellipse">
            <a:avLst/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45252" y="20071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"/>
          <p:cNvSpPr/>
          <p:nvPr/>
        </p:nvSpPr>
        <p:spPr>
          <a:xfrm>
            <a:off x="5961888" y="1865376"/>
            <a:ext cx="475488" cy="475488"/>
          </a:xfrm>
          <a:prstGeom prst="ellipse">
            <a:avLst/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03620" y="20071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"/>
          <p:cNvSpPr/>
          <p:nvPr/>
        </p:nvSpPr>
        <p:spPr>
          <a:xfrm>
            <a:off x="6620256" y="1865376"/>
            <a:ext cx="475488" cy="475488"/>
          </a:xfrm>
          <a:prstGeom prst="ellipse">
            <a:avLst/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1988" y="2007108"/>
            <a:ext cx="192024" cy="192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5"/>
          <p:cNvCxnSpPr/>
          <p:nvPr/>
        </p:nvCxnSpPr>
        <p:spPr>
          <a:xfrm>
            <a:off x="457200" y="254203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"/>
          <p:cNvSpPr/>
          <p:nvPr/>
        </p:nvSpPr>
        <p:spPr>
          <a:xfrm>
            <a:off x="457200" y="2907792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38BDF8">
              <a:alpha val="18039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57200" y="29077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24 × 24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1600200" y="28895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Principales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1600200" y="31821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Tabs · Acciones · Headers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5303520" y="2852928"/>
            <a:ext cx="475488" cy="475488"/>
          </a:xfrm>
          <a:prstGeom prst="ellipse">
            <a:avLst/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26964" y="2976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"/>
          <p:cNvSpPr/>
          <p:nvPr/>
        </p:nvSpPr>
        <p:spPr>
          <a:xfrm>
            <a:off x="5961888" y="2852928"/>
            <a:ext cx="475488" cy="475488"/>
          </a:xfrm>
          <a:prstGeom prst="ellipse">
            <a:avLst/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85332" y="2976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6620256" y="2852928"/>
            <a:ext cx="475488" cy="475488"/>
          </a:xfrm>
          <a:prstGeom prst="ellipse">
            <a:avLst/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43700" y="2976372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5"/>
          <p:cNvCxnSpPr/>
          <p:nvPr/>
        </p:nvCxnSpPr>
        <p:spPr>
          <a:xfrm>
            <a:off x="457200" y="3529584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5"/>
          <p:cNvSpPr/>
          <p:nvPr/>
        </p:nvSpPr>
        <p:spPr>
          <a:xfrm>
            <a:off x="457200" y="3895344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34D399">
              <a:alpha val="18039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57200" y="389534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32 × 32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1600200" y="3877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Grandes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1600200" y="416966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Features · Highlights · Onboarding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5303520" y="3840480"/>
            <a:ext cx="475488" cy="475488"/>
          </a:xfrm>
          <a:prstGeom prst="ellipse">
            <a:avLst/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385816" y="3922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961888" y="3840480"/>
            <a:ext cx="475488" cy="475488"/>
          </a:xfrm>
          <a:prstGeom prst="ellipse">
            <a:avLst/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44184" y="3922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"/>
          <p:cNvSpPr/>
          <p:nvPr/>
        </p:nvSpPr>
        <p:spPr>
          <a:xfrm>
            <a:off x="6620256" y="3840480"/>
            <a:ext cx="475488" cy="475488"/>
          </a:xfrm>
          <a:prstGeom prst="ellipse">
            <a:avLst/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02552" y="3922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"/>
          <p:cNvSpPr/>
          <p:nvPr/>
        </p:nvSpPr>
        <p:spPr>
          <a:xfrm>
            <a:off x="6492250" y="877825"/>
            <a:ext cx="2194500" cy="3584400"/>
          </a:xfrm>
          <a:prstGeom prst="roundRect">
            <a:avLst>
              <a:gd name="adj" fmla="val 4167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19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6583680" y="91440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BUENAS PRÁCTICAS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6601968" y="1234440"/>
            <a:ext cx="201168" cy="20116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6601968" y="12344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6858000" y="123444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Usar siempre el tamaño correcto por contexto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6601968" y="1709928"/>
            <a:ext cx="201168" cy="20116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6601968" y="17099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6858000" y="170992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Exportar SVG + PNG @2x para mayor nitidez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6601968" y="2185416"/>
            <a:ext cx="201168" cy="20116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6601968" y="21854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6858000" y="218541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Mantener grosor de trazo uniforme (1.5–2 px)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6601968" y="2660904"/>
            <a:ext cx="201168" cy="201168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 cap="flat" cmpd="sng">
            <a:solidFill>
              <a:srgbClr val="F8717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6601968" y="26609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6858000" y="266090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Mezclar estilos outline y filled en la misma vista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6601968" y="3136392"/>
            <a:ext cx="201168" cy="201168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 cap="flat" cmpd="sng">
            <a:solidFill>
              <a:srgbClr val="F8717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6601968" y="31363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6858000" y="313639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Usar iconos de 16 px como acción principal en tab bar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24625" y="218331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2984" y="43385"/>
            <a:ext cx="11144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6A6FE40-09B1-166E-E917-234AA5B4D731}"/>
              </a:ext>
            </a:extLst>
          </p:cNvPr>
          <p:cNvSpPr txBox="1"/>
          <p:nvPr/>
        </p:nvSpPr>
        <p:spPr>
          <a:xfrm>
            <a:off x="999893" y="2091223"/>
            <a:ext cx="72594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💻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Especificaciones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Desktop</a:t>
            </a:r>
            <a:endParaRPr lang="en-US"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645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822960" y="256032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57200" y="80467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ESCALA TIPOGRÁFICA DESKTOP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57200" y="1115568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57200" y="11155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40px · Sora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783080" y="11155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H1 — Títulos principales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457200" y="1389888"/>
            <a:ext cx="48463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FluneXy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57200" y="204216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57200" y="204216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28px · Sora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783080" y="20421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H2 — Subtítulos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457200" y="2316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800"/>
              <a:buFont typeface="Sora"/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Sora"/>
                <a:ea typeface="Sora"/>
                <a:cs typeface="Sora"/>
                <a:sym typeface="Sora"/>
              </a:rPr>
              <a:t>Bienvenido de vuelta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57200" y="2846832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57200" y="284683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22px · Sora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1783080" y="284683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H3 — Títulos menores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457200" y="3121152"/>
            <a:ext cx="48463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Sora"/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Sora"/>
                <a:ea typeface="Sora"/>
                <a:cs typeface="Sora"/>
                <a:sym typeface="Sora"/>
              </a:rPr>
              <a:t>Verifica tu correo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457200" y="35905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457200" y="359054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16px · Inter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1783080" y="359054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Body — Texto general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457200" y="3864864"/>
            <a:ext cx="48463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Inter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Ingresa tus datos para acceder.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5642475" y="804676"/>
            <a:ext cx="3071100" cy="3717600"/>
          </a:xfrm>
          <a:prstGeom prst="roundRect">
            <a:avLst>
              <a:gd name="adj" fmla="val 3636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897880" y="93268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ESCALA EXTENDIDA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5897880" y="1261872"/>
            <a:ext cx="36576" cy="82296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035040" y="12618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035040" y="15361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Sora"/>
              <a:buNone/>
            </a:pPr>
            <a:r>
              <a:rPr lang="en-US" sz="2000" b="1" i="0" u="none" strike="noStrike" cap="none">
                <a:solidFill>
                  <a:srgbClr val="A78BFA"/>
                </a:solidFill>
                <a:latin typeface="Sora"/>
                <a:ea typeface="Sora"/>
                <a:cs typeface="Sora"/>
                <a:sym typeface="Sora"/>
              </a:rPr>
              <a:t>13px · Inter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6035040" y="1828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Metadatos, fechas, ayudas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5897880" y="2404872"/>
            <a:ext cx="36576" cy="82296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6035040" y="2404872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6035040" y="26791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12px · Inter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035040" y="2971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Labels, badges, encabezados de tabla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5897880" y="3547872"/>
            <a:ext cx="36576" cy="8229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6035040" y="35478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Resolución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6035040" y="38221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000"/>
              <a:buFont typeface="Inter"/>
              <a:buNone/>
            </a:pPr>
            <a:r>
              <a:rPr lang="en-US" sz="20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1440 × 900 px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6035040" y="4114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Referencia base Desktop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0C0F40"/>
          </a:solidFill>
          <a:ln w="12700" cap="flat" cmpd="sng">
            <a:solidFill>
              <a:srgbClr val="A78BFA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598400" y="4663425"/>
            <a:ext cx="8042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Inter"/>
              <a:buNone/>
            </a:pPr>
            <a:r>
              <a:rPr lang="en-US" sz="9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medidas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presentadas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corresponden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referencia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1440 × 900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px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El ancho de 1440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px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base para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Desktop. La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altura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puede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variar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según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módulo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permitiendo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desplazamiento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vertical (scroll)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sea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necesario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97654" y="177739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2920" y="310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"/>
          <p:cNvSpPr/>
          <p:nvPr/>
        </p:nvSpPr>
        <p:spPr>
          <a:xfrm>
            <a:off x="822960" y="256032"/>
            <a:ext cx="6781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Especificaciones de Imágenes — Desktop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457200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457200" y="777240"/>
            <a:ext cx="1572768" cy="54864"/>
          </a:xfrm>
          <a:prstGeom prst="rect">
            <a:avLst/>
          </a:prstGeom>
          <a:solidFill>
            <a:srgbClr val="818CF8"/>
          </a:solidFill>
          <a:ln w="12700" cap="flat" cmpd="sng">
            <a:solidFill>
              <a:srgbClr val="818C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94360" y="978408"/>
            <a:ext cx="1298448" cy="1746189"/>
          </a:xfrm>
          <a:prstGeom prst="roundRect">
            <a:avLst>
              <a:gd name="adj" fmla="val 4225"/>
            </a:avLst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94360" y="978408"/>
            <a:ext cx="1298448" cy="174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360 × 480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530352" y="2852613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Hero Image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530352" y="3126933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360 × 480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530352" y="3328101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máx. 600 px full-width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2139696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A78BFA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139696" y="777240"/>
            <a:ext cx="1572768" cy="54864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2276856" y="978408"/>
            <a:ext cx="1298448" cy="575391"/>
          </a:xfrm>
          <a:prstGeom prst="roundRect">
            <a:avLst>
              <a:gd name="adj" fmla="val 9535"/>
            </a:avLst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2276856" y="978408"/>
            <a:ext cx="1298448" cy="57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720 × 320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2212848" y="1681815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Banner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2212848" y="1956135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720 × 320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2212848" y="2157303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ancho completo de sección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3822192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38BDF8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822192" y="777240"/>
            <a:ext cx="1572768" cy="54864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959352" y="978408"/>
            <a:ext cx="1298448" cy="1723395"/>
          </a:xfrm>
          <a:prstGeom prst="roundRect">
            <a:avLst>
              <a:gd name="adj" fmla="val 4225"/>
            </a:avLst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959352" y="978408"/>
            <a:ext cx="1298448" cy="172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108 × 144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895344" y="2829819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Card Image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3895344" y="3104139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108 × 144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3895344" y="3305307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proporción 3:4 fintech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504688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504688" y="777240"/>
            <a:ext cx="1572768" cy="54864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641848" y="978408"/>
            <a:ext cx="1298448" cy="1298448"/>
          </a:xfrm>
          <a:prstGeom prst="roundRect">
            <a:avLst>
              <a:gd name="adj" fmla="val 4225"/>
            </a:avLst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641848" y="978408"/>
            <a:ext cx="1298448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64 × 64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5577840" y="2404872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Thumbnail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577840" y="267919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64 × 64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577840" y="288036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vista de lista extendida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187184" y="777240"/>
            <a:ext cx="1572768" cy="3520440"/>
          </a:xfrm>
          <a:prstGeom prst="roundRect">
            <a:avLst>
              <a:gd name="adj" fmla="val 5814"/>
            </a:avLst>
          </a:prstGeom>
          <a:solidFill>
            <a:srgbClr val="0C0F40"/>
          </a:solidFill>
          <a:ln w="12700" cap="flat" cmpd="sng">
            <a:solidFill>
              <a:srgbClr val="FBBF24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7187184" y="777240"/>
            <a:ext cx="1572768" cy="54864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7324344" y="978408"/>
            <a:ext cx="1298448" cy="1298448"/>
          </a:xfrm>
          <a:prstGeom prst="roundRect">
            <a:avLst>
              <a:gd name="adj" fmla="val 4225"/>
            </a:avLst>
          </a:prstGeom>
          <a:solidFill>
            <a:srgbClr val="FBBF24">
              <a:alpha val="14901"/>
            </a:srgbClr>
          </a:solidFill>
          <a:ln w="12700" cap="flat" cmpd="sng">
            <a:solidFill>
              <a:srgbClr val="FBBF24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7324344" y="978408"/>
            <a:ext cx="1298448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40 · 48 · 56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7260336" y="2404872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Avatar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7260336" y="2679192"/>
            <a:ext cx="14264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40 · 48 · 56 px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7260336" y="2880360"/>
            <a:ext cx="14264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 tamaños estándar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594360" y="466344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1202" y="159458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2920" y="310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"/>
          <p:cNvSpPr/>
          <p:nvPr/>
        </p:nvSpPr>
        <p:spPr>
          <a:xfrm>
            <a:off x="822960" y="2560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or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Iconografía — Desktop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57200" y="932688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818CF8">
              <a:alpha val="18039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7200" y="93268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16 × 16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1600200" y="914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Pequeños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1600200" y="12070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Inputs · Labels · Badges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5303520" y="877824"/>
            <a:ext cx="475488" cy="475488"/>
          </a:xfrm>
          <a:prstGeom prst="ellipse">
            <a:avLst/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3540" y="103784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"/>
          <p:cNvSpPr/>
          <p:nvPr/>
        </p:nvSpPr>
        <p:spPr>
          <a:xfrm>
            <a:off x="5961888" y="877824"/>
            <a:ext cx="475488" cy="475488"/>
          </a:xfrm>
          <a:prstGeom prst="ellipse">
            <a:avLst/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1908" y="103784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"/>
          <p:cNvSpPr/>
          <p:nvPr/>
        </p:nvSpPr>
        <p:spPr>
          <a:xfrm>
            <a:off x="6620256" y="877824"/>
            <a:ext cx="475488" cy="475488"/>
          </a:xfrm>
          <a:prstGeom prst="ellipse">
            <a:avLst/>
          </a:prstGeom>
          <a:solidFill>
            <a:srgbClr val="818CF8">
              <a:alpha val="14901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0276" y="1037844"/>
            <a:ext cx="155448" cy="155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5"/>
          <p:cNvCxnSpPr/>
          <p:nvPr/>
        </p:nvCxnSpPr>
        <p:spPr>
          <a:xfrm>
            <a:off x="457200" y="155448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5"/>
          <p:cNvSpPr/>
          <p:nvPr/>
        </p:nvSpPr>
        <p:spPr>
          <a:xfrm>
            <a:off x="457200" y="1920240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A78BFA">
              <a:alpha val="18039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57200" y="19202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20 × 20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1600200" y="19019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Estándar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1600200" y="21945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Botones · Navegación · Chips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5303520" y="1865376"/>
            <a:ext cx="475488" cy="475488"/>
          </a:xfrm>
          <a:prstGeom prst="ellipse">
            <a:avLst/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5252" y="20071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"/>
          <p:cNvSpPr/>
          <p:nvPr/>
        </p:nvSpPr>
        <p:spPr>
          <a:xfrm>
            <a:off x="5961888" y="1865376"/>
            <a:ext cx="475488" cy="475488"/>
          </a:xfrm>
          <a:prstGeom prst="ellipse">
            <a:avLst/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03620" y="20071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"/>
          <p:cNvSpPr/>
          <p:nvPr/>
        </p:nvSpPr>
        <p:spPr>
          <a:xfrm>
            <a:off x="6620256" y="1865376"/>
            <a:ext cx="475488" cy="475488"/>
          </a:xfrm>
          <a:prstGeom prst="ellipse">
            <a:avLst/>
          </a:prstGeom>
          <a:solidFill>
            <a:srgbClr val="A78BFA">
              <a:alpha val="14901"/>
            </a:srgbClr>
          </a:solidFill>
          <a:ln w="12700" cap="flat" cmpd="sng">
            <a:solidFill>
              <a:srgbClr val="A78BF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1988" y="2007108"/>
            <a:ext cx="192024" cy="192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5"/>
          <p:cNvCxnSpPr/>
          <p:nvPr/>
        </p:nvCxnSpPr>
        <p:spPr>
          <a:xfrm>
            <a:off x="457200" y="254203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"/>
          <p:cNvSpPr/>
          <p:nvPr/>
        </p:nvSpPr>
        <p:spPr>
          <a:xfrm>
            <a:off x="457200" y="2907792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38BDF8">
              <a:alpha val="18039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57200" y="29077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24 × 24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1600200" y="28895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Principales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1600200" y="318211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Tabs · Acciones · Headers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5303520" y="2852928"/>
            <a:ext cx="475488" cy="475488"/>
          </a:xfrm>
          <a:prstGeom prst="ellipse">
            <a:avLst/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26964" y="2976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"/>
          <p:cNvSpPr/>
          <p:nvPr/>
        </p:nvSpPr>
        <p:spPr>
          <a:xfrm>
            <a:off x="5961888" y="2852928"/>
            <a:ext cx="475488" cy="475488"/>
          </a:xfrm>
          <a:prstGeom prst="ellipse">
            <a:avLst/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85332" y="29763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6620256" y="2852928"/>
            <a:ext cx="475488" cy="475488"/>
          </a:xfrm>
          <a:prstGeom prst="ellipse">
            <a:avLst/>
          </a:prstGeom>
          <a:solidFill>
            <a:srgbClr val="38BDF8">
              <a:alpha val="14901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43700" y="2976372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5"/>
          <p:cNvCxnSpPr/>
          <p:nvPr/>
        </p:nvCxnSpPr>
        <p:spPr>
          <a:xfrm>
            <a:off x="457200" y="3529584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5"/>
          <p:cNvSpPr/>
          <p:nvPr/>
        </p:nvSpPr>
        <p:spPr>
          <a:xfrm>
            <a:off x="457200" y="3895344"/>
            <a:ext cx="1051560" cy="274320"/>
          </a:xfrm>
          <a:prstGeom prst="roundRect">
            <a:avLst>
              <a:gd name="adj" fmla="val 23333"/>
            </a:avLst>
          </a:prstGeom>
          <a:solidFill>
            <a:srgbClr val="34D399">
              <a:alpha val="18039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57200" y="389534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32 × 32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1600200" y="3877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Iconos Grandes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1600200" y="4169664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Features · Highlights · Onboarding · + 40 px destacados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5303520" y="3840480"/>
            <a:ext cx="475488" cy="475488"/>
          </a:xfrm>
          <a:prstGeom prst="ellipse">
            <a:avLst/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85816" y="3922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961888" y="3840480"/>
            <a:ext cx="475488" cy="475488"/>
          </a:xfrm>
          <a:prstGeom prst="ellipse">
            <a:avLst/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44184" y="3922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"/>
          <p:cNvSpPr/>
          <p:nvPr/>
        </p:nvSpPr>
        <p:spPr>
          <a:xfrm>
            <a:off x="6620256" y="3840480"/>
            <a:ext cx="475488" cy="475488"/>
          </a:xfrm>
          <a:prstGeom prst="ellipse">
            <a:avLst/>
          </a:prstGeom>
          <a:solidFill>
            <a:srgbClr val="34D399">
              <a:alpha val="14901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02552" y="39227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"/>
          <p:cNvSpPr/>
          <p:nvPr/>
        </p:nvSpPr>
        <p:spPr>
          <a:xfrm>
            <a:off x="6492250" y="877825"/>
            <a:ext cx="2194500" cy="3584400"/>
          </a:xfrm>
          <a:prstGeom prst="roundRect">
            <a:avLst>
              <a:gd name="adj" fmla="val 4167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219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6583680" y="91440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Inter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BUENAS PRÁCTICAS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6601968" y="1234440"/>
            <a:ext cx="201168" cy="20116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6601968" y="12344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6858000" y="123444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Usar siempre el tamaño correcto por contexto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6601968" y="1709928"/>
            <a:ext cx="201168" cy="20116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6601968" y="17099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6858000" y="170992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Exportar SVG + PNG @2x para mayor nitidez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6601968" y="2185416"/>
            <a:ext cx="201168" cy="201168"/>
          </a:xfrm>
          <a:prstGeom prst="ellipse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6601968" y="21854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6858000" y="218541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Mantener grosor de trazo uniforme (1.5–2 px)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6601968" y="2660904"/>
            <a:ext cx="201168" cy="201168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 cap="flat" cmpd="sng">
            <a:solidFill>
              <a:srgbClr val="F8717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6601968" y="26609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6858000" y="266090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Mezclar estilos outline y filled en la misma vista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6601968" y="3136392"/>
            <a:ext cx="201168" cy="201168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 cap="flat" cmpd="sng">
            <a:solidFill>
              <a:srgbClr val="F8717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6601968" y="31363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6858000" y="313639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Usar iconos de 16 px como acción principal en tab bar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24625" y="218331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20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A78BFA">
              <a:alpha val="10196"/>
            </a:srgbClr>
          </a:solidFill>
          <a:ln w="12700" cap="flat" cmpd="sng">
            <a:solidFill>
              <a:srgbClr val="A78BFA">
                <a:alpha val="1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Sor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Resumen del Design System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Todo lo que necesitas para construir FluneXy con consistencia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57200" y="13258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0C0F40"/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1234440" y="1490472"/>
            <a:ext cx="365760" cy="365760"/>
          </a:xfrm>
          <a:prstGeom prst="ellipse">
            <a:avLst/>
          </a:prstGeom>
          <a:solidFill>
            <a:srgbClr val="818CF8">
              <a:alpha val="18039"/>
            </a:srgbClr>
          </a:solidFill>
          <a:ln w="12700" cap="flat" cmpd="sng">
            <a:solidFill>
              <a:srgbClr val="818C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844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7"/>
          <p:cNvSpPr/>
          <p:nvPr/>
        </p:nvSpPr>
        <p:spPr>
          <a:xfrm>
            <a:off x="548640" y="192938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Colores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548640" y="2240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BG Deep #070920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548640" y="255117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Indigo #818CF8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548640" y="28620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6 colores de estado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2560320" y="13258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0C0F40"/>
          </a:solidFill>
          <a:ln w="12700" cap="flat" cmpd="sng">
            <a:solidFill>
              <a:srgbClr val="A78BF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3337560" y="1490472"/>
            <a:ext cx="365760" cy="365760"/>
          </a:xfrm>
          <a:prstGeom prst="ellipse">
            <a:avLst/>
          </a:prstGeom>
          <a:solidFill>
            <a:srgbClr val="A78BFA">
              <a:alpha val="18039"/>
            </a:srgbClr>
          </a:solidFill>
          <a:ln w="12700" cap="flat" cmpd="sng">
            <a:solidFill>
              <a:srgbClr val="A78BF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156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7"/>
          <p:cNvSpPr/>
          <p:nvPr/>
        </p:nvSpPr>
        <p:spPr>
          <a:xfrm>
            <a:off x="2651760" y="192938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Tipografía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2651760" y="2240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rPr>
              <a:t>H1 Sora 32px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2651760" y="255117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H2 Sora 24px · H3 20px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2651760" y="28620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Body Inter 16px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4663440" y="13258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0C0F40"/>
          </a:solidFill>
          <a:ln w="12700" cap="flat" cmpd="sng">
            <a:solidFill>
              <a:srgbClr val="38BD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5440680" y="1490472"/>
            <a:ext cx="365760" cy="365760"/>
          </a:xfrm>
          <a:prstGeom prst="ellipse">
            <a:avLst/>
          </a:prstGeom>
          <a:solidFill>
            <a:srgbClr val="38BDF8">
              <a:alpha val="18039"/>
            </a:srgbClr>
          </a:solidFill>
          <a:ln w="12700" cap="flat" cmpd="sng">
            <a:solidFill>
              <a:srgbClr val="38BDF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468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"/>
          <p:cNvSpPr/>
          <p:nvPr/>
        </p:nvSpPr>
        <p:spPr>
          <a:xfrm>
            <a:off x="4754880" y="192938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Imágenes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4754880" y="2240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Hero 240×320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4754880" y="255117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Banner 360×160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4754880" y="28620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Card · Thumb · Avatar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6766560" y="13258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0C0F40"/>
          </a:solidFill>
          <a:ln w="12700" cap="flat" cmpd="sng">
            <a:solidFill>
              <a:srgbClr val="34D399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7543800" y="1490472"/>
            <a:ext cx="365760" cy="365760"/>
          </a:xfrm>
          <a:prstGeom prst="ellipse">
            <a:avLst/>
          </a:prstGeom>
          <a:solidFill>
            <a:srgbClr val="34D399">
              <a:alpha val="18039"/>
            </a:srgbClr>
          </a:solidFill>
          <a:ln w="12700" cap="flat" cmpd="sng">
            <a:solidFill>
              <a:srgbClr val="34D399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780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7"/>
          <p:cNvSpPr/>
          <p:nvPr/>
        </p:nvSpPr>
        <p:spPr>
          <a:xfrm>
            <a:off x="6858000" y="192938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Iconografía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6858000" y="22402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Inter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16 · 20 · 24 · 32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6858000" y="255117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Grilla de 8 px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6858000" y="28620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SVG + PNG @2x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4640580" y="374904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274320" y="48188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5255" y="218330"/>
            <a:ext cx="1114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1231</Words>
  <Application>Microsoft Office PowerPoint</Application>
  <PresentationFormat>Presentación en pantalla (16:9)</PresentationFormat>
  <Paragraphs>251</Paragraphs>
  <Slides>16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Sora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FluneXy Team</dc:creator>
  <cp:lastModifiedBy>Santiago Restrepo</cp:lastModifiedBy>
  <cp:revision>5</cp:revision>
  <dcterms:created xsi:type="dcterms:W3CDTF">2026-05-25T19:23:14Z</dcterms:created>
  <dcterms:modified xsi:type="dcterms:W3CDTF">2026-06-30T23:09:32Z</dcterms:modified>
</cp:coreProperties>
</file>